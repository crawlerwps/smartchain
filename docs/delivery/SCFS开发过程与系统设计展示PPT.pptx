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4ab736984b4919" /><Relationship Type="http://schemas.openxmlformats.org/officeDocument/2006/relationships/extended-properties" Target="/docProps/app.xml" Id="R027904d7edf54947" /><Relationship Type="http://schemas.openxmlformats.org/officeDocument/2006/relationships/officeDocument" Target="/ppt/presentation.xml" Id="Rcdc3aca46a2c45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b31f429dc648eb"/>
  </p:sldMasterIdLst>
  <p:notesMasterIdLst>
    <p:notesMasterId xmlns:r="http://schemas.openxmlformats.org/officeDocument/2006/relationships" r:id="Rbe24b320db094791"/>
  </p:notesMasterIdLst>
  <p:sldIdLst>
    <p:sldId xmlns:r="http://schemas.openxmlformats.org/officeDocument/2006/relationships" id="256" r:id="R9798816822bc41cc"/>
    <p:sldId xmlns:r="http://schemas.openxmlformats.org/officeDocument/2006/relationships" id="257" r:id="Ra53581a75d9b4b9d"/>
    <p:sldId xmlns:r="http://schemas.openxmlformats.org/officeDocument/2006/relationships" id="258" r:id="Rf204b4c15918410c"/>
    <p:sldId xmlns:r="http://schemas.openxmlformats.org/officeDocument/2006/relationships" id="259" r:id="R7693f9ae48b1482a"/>
    <p:sldId xmlns:r="http://schemas.openxmlformats.org/officeDocument/2006/relationships" id="260" r:id="R60690763c7774b89"/>
    <p:sldId xmlns:r="http://schemas.openxmlformats.org/officeDocument/2006/relationships" id="261" r:id="Rcf72d4ab672b433b"/>
    <p:sldId xmlns:r="http://schemas.openxmlformats.org/officeDocument/2006/relationships" id="262" r:id="R3e284b45d8cd4a10"/>
    <p:sldId xmlns:r="http://schemas.openxmlformats.org/officeDocument/2006/relationships" id="263" r:id="Rba8d8f8609094d82"/>
    <p:sldId xmlns:r="http://schemas.openxmlformats.org/officeDocument/2006/relationships" id="264" r:id="R037b14cbfae84618"/>
    <p:sldId xmlns:r="http://schemas.openxmlformats.org/officeDocument/2006/relationships" id="265" r:id="R01a153d62cf349fd"/>
    <p:sldId xmlns:r="http://schemas.openxmlformats.org/officeDocument/2006/relationships" id="266" r:id="Raf24efb72c384fb6"/>
    <p:sldId xmlns:r="http://schemas.openxmlformats.org/officeDocument/2006/relationships" id="267" r:id="R534dd6def2f14d1b"/>
    <p:sldId xmlns:r="http://schemas.openxmlformats.org/officeDocument/2006/relationships" id="268" r:id="R6d2360dab8c04104"/>
    <p:sldId xmlns:r="http://schemas.openxmlformats.org/officeDocument/2006/relationships" id="269" r:id="R1cd4125f06d2401d"/>
    <p:sldId xmlns:r="http://schemas.openxmlformats.org/officeDocument/2006/relationships" id="270" r:id="Rfb35a774f80c4775"/>
    <p:sldId xmlns:r="http://schemas.openxmlformats.org/officeDocument/2006/relationships" id="271" r:id="R5fc702ecd9414785"/>
    <p:sldId xmlns:r="http://schemas.openxmlformats.org/officeDocument/2006/relationships" id="272" r:id="R3524ad8226da440b"/>
    <p:sldId xmlns:r="http://schemas.openxmlformats.org/officeDocument/2006/relationships" id="273" r:id="Rb55bfc3032b147fe"/>
    <p:sldId xmlns:r="http://schemas.openxmlformats.org/officeDocument/2006/relationships" id="274" r:id="Rdefe0972503e45d4"/>
    <p:sldId xmlns:r="http://schemas.openxmlformats.org/officeDocument/2006/relationships" id="275" r:id="Re37bc10a9307467c"/>
    <p:sldId xmlns:r="http://schemas.openxmlformats.org/officeDocument/2006/relationships" id="276" r:id="R3edb0629db8041e0"/>
    <p:sldId xmlns:r="http://schemas.openxmlformats.org/officeDocument/2006/relationships" id="277" r:id="Rcb05271995f54a7e"/>
    <p:sldId xmlns:r="http://schemas.openxmlformats.org/officeDocument/2006/relationships" id="278" r:id="R03981e5798c54cee"/>
    <p:sldId xmlns:r="http://schemas.openxmlformats.org/officeDocument/2006/relationships" id="279" r:id="Reec365f083b54ec5"/>
    <p:sldId xmlns:r="http://schemas.openxmlformats.org/officeDocument/2006/relationships" id="280" r:id="Rfdd207a72d944c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9ef1f96de54b41" /><Relationship Type="http://schemas.openxmlformats.org/officeDocument/2006/relationships/slideMaster" Target="/ppt/slideMasters/slideMaster1.xml" Id="R18b31f429dc648eb" /><Relationship Type="http://schemas.openxmlformats.org/officeDocument/2006/relationships/notesMaster" Target="/ppt/notesMasters/notesMaster1.xml" Id="Rbe24b320db094791" /><Relationship Type="http://schemas.openxmlformats.org/officeDocument/2006/relationships/presProps" Target="/ppt/presProps.xml" Id="R143711215d8b412a" /><Relationship Type="http://schemas.openxmlformats.org/officeDocument/2006/relationships/tableStyles" Target="/ppt/tableStyles.xml" Id="R4646795f15c94bb9" /><Relationship Type="http://schemas.openxmlformats.org/officeDocument/2006/relationships/slide" Target="/ppt/slides/slide1.xml" Id="R9798816822bc41cc" /><Relationship Type="http://schemas.openxmlformats.org/officeDocument/2006/relationships/slide" Target="/ppt/slides/slide2.xml" Id="Ra53581a75d9b4b9d" /><Relationship Type="http://schemas.openxmlformats.org/officeDocument/2006/relationships/slide" Target="/ppt/slides/slide3.xml" Id="Rf204b4c15918410c" /><Relationship Type="http://schemas.openxmlformats.org/officeDocument/2006/relationships/slide" Target="/ppt/slides/slide4.xml" Id="R7693f9ae48b1482a" /><Relationship Type="http://schemas.openxmlformats.org/officeDocument/2006/relationships/slide" Target="/ppt/slides/slide5.xml" Id="R60690763c7774b89" /><Relationship Type="http://schemas.openxmlformats.org/officeDocument/2006/relationships/slide" Target="/ppt/slides/slide6.xml" Id="Rcf72d4ab672b433b" /><Relationship Type="http://schemas.openxmlformats.org/officeDocument/2006/relationships/slide" Target="/ppt/slides/slide7.xml" Id="R3e284b45d8cd4a10" /><Relationship Type="http://schemas.openxmlformats.org/officeDocument/2006/relationships/slide" Target="/ppt/slides/slide8.xml" Id="Rba8d8f8609094d82" /><Relationship Type="http://schemas.openxmlformats.org/officeDocument/2006/relationships/slide" Target="/ppt/slides/slide9.xml" Id="R037b14cbfae84618" /><Relationship Type="http://schemas.openxmlformats.org/officeDocument/2006/relationships/slide" Target="/ppt/slides/slide10.xml" Id="R01a153d62cf349fd" /><Relationship Type="http://schemas.openxmlformats.org/officeDocument/2006/relationships/slide" Target="/ppt/slides/slide11.xml" Id="Raf24efb72c384fb6" /><Relationship Type="http://schemas.openxmlformats.org/officeDocument/2006/relationships/slide" Target="/ppt/slides/slide12.xml" Id="R534dd6def2f14d1b" /><Relationship Type="http://schemas.openxmlformats.org/officeDocument/2006/relationships/slide" Target="/ppt/slides/slide13.xml" Id="R6d2360dab8c04104" /><Relationship Type="http://schemas.openxmlformats.org/officeDocument/2006/relationships/slide" Target="/ppt/slides/slide14.xml" Id="R1cd4125f06d2401d" /><Relationship Type="http://schemas.openxmlformats.org/officeDocument/2006/relationships/slide" Target="/ppt/slides/slide15.xml" Id="Rfb35a774f80c4775" /><Relationship Type="http://schemas.openxmlformats.org/officeDocument/2006/relationships/slide" Target="/ppt/slides/slide16.xml" Id="R5fc702ecd9414785" /><Relationship Type="http://schemas.openxmlformats.org/officeDocument/2006/relationships/slide" Target="/ppt/slides/slide17.xml" Id="R3524ad8226da440b" /><Relationship Type="http://schemas.openxmlformats.org/officeDocument/2006/relationships/slide" Target="/ppt/slides/slide18.xml" Id="Rb55bfc3032b147fe" /><Relationship Type="http://schemas.openxmlformats.org/officeDocument/2006/relationships/slide" Target="/ppt/slides/slide19.xml" Id="Rdefe0972503e45d4" /><Relationship Type="http://schemas.openxmlformats.org/officeDocument/2006/relationships/slide" Target="/ppt/slides/slide20.xml" Id="Re37bc10a9307467c" /><Relationship Type="http://schemas.openxmlformats.org/officeDocument/2006/relationships/slide" Target="/ppt/slides/slide21.xml" Id="R3edb0629db8041e0" /><Relationship Type="http://schemas.openxmlformats.org/officeDocument/2006/relationships/slide" Target="/ppt/slides/slide22.xml" Id="Rcb05271995f54a7e" /><Relationship Type="http://schemas.openxmlformats.org/officeDocument/2006/relationships/slide" Target="/ppt/slides/slide23.xml" Id="R03981e5798c54cee" /><Relationship Type="http://schemas.openxmlformats.org/officeDocument/2006/relationships/slide" Target="/ppt/slides/slide24.xml" Id="Reec365f083b54ec5" /><Relationship Type="http://schemas.openxmlformats.org/officeDocument/2006/relationships/slide" Target="/ppt/slides/slide25.xml" Id="Rfdd207a72d944c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8fbabb5d60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26509049d4c09" /><Relationship Type="http://schemas.openxmlformats.org/officeDocument/2006/relationships/notesMaster" Target="/ppt/notesMasters/notesMaster1.xml" Id="R6eef6b8f93f7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04f5aca5114444" /><Relationship Type="http://schemas.openxmlformats.org/officeDocument/2006/relationships/notesMaster" Target="/ppt/notesMasters/notesMaster1.xml" Id="R8d48cae75c15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1a92bc8985453a" /><Relationship Type="http://schemas.openxmlformats.org/officeDocument/2006/relationships/notesMaster" Target="/ppt/notesMasters/notesMaster1.xml" Id="R3415f6a48eae4a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bfa50cc1f04284" /><Relationship Type="http://schemas.openxmlformats.org/officeDocument/2006/relationships/notesMaster" Target="/ppt/notesMasters/notesMaster1.xml" Id="R586bfee105cd40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e9ae5e92394ba2" /><Relationship Type="http://schemas.openxmlformats.org/officeDocument/2006/relationships/notesMaster" Target="/ppt/notesMasters/notesMaster1.xml" Id="R7c08c906a6b5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6665991b3244d9" /><Relationship Type="http://schemas.openxmlformats.org/officeDocument/2006/relationships/notesMaster" Target="/ppt/notesMasters/notesMaster1.xml" Id="R90712622deb3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ec2992c3714d56" /><Relationship Type="http://schemas.openxmlformats.org/officeDocument/2006/relationships/notesMaster" Target="/ppt/notesMasters/notesMaster1.xml" Id="R03919f7e560645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3708cd4e974c5e" /><Relationship Type="http://schemas.openxmlformats.org/officeDocument/2006/relationships/notesMaster" Target="/ppt/notesMasters/notesMaster1.xml" Id="Rb34860b39af14d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2948614e794476" /><Relationship Type="http://schemas.openxmlformats.org/officeDocument/2006/relationships/notesMaster" Target="/ppt/notesMasters/notesMaster1.xml" Id="R088677892e1c4d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a0ae64996c451d" /><Relationship Type="http://schemas.openxmlformats.org/officeDocument/2006/relationships/notesMaster" Target="/ppt/notesMasters/notesMaster1.xml" Id="R02948606851444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397b84df4a4c0e" /><Relationship Type="http://schemas.openxmlformats.org/officeDocument/2006/relationships/notesMaster" Target="/ppt/notesMasters/notesMaster1.xml" Id="Rce730823f8554b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57c390583b4907" /><Relationship Type="http://schemas.openxmlformats.org/officeDocument/2006/relationships/notesMaster" Target="/ppt/notesMasters/notesMaster1.xml" Id="Rb94a7e4d5048494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2365bc8ccd54bb8" /><Relationship Type="http://schemas.openxmlformats.org/officeDocument/2006/relationships/notesMaster" Target="/ppt/notesMasters/notesMaster1.xml" Id="R816f2e026af247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131da3d65024834" /><Relationship Type="http://schemas.openxmlformats.org/officeDocument/2006/relationships/notesMaster" Target="/ppt/notesMasters/notesMaster1.xml" Id="Rbe963cb21a3c45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8635d17595408a" /><Relationship Type="http://schemas.openxmlformats.org/officeDocument/2006/relationships/notesMaster" Target="/ppt/notesMasters/notesMaster1.xml" Id="R3db9fbabb8b04fd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e4bd2a714f494d" /><Relationship Type="http://schemas.openxmlformats.org/officeDocument/2006/relationships/notesMaster" Target="/ppt/notesMasters/notesMaster1.xml" Id="R36b1a706829440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a48f8a15a934699" /><Relationship Type="http://schemas.openxmlformats.org/officeDocument/2006/relationships/notesMaster" Target="/ppt/notesMasters/notesMaster1.xml" Id="R352ff4c8260c4ec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34e6a709e04793" /><Relationship Type="http://schemas.openxmlformats.org/officeDocument/2006/relationships/notesMaster" Target="/ppt/notesMasters/notesMaster1.xml" Id="R1a533f6cdc9243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68052e960a45f3" /><Relationship Type="http://schemas.openxmlformats.org/officeDocument/2006/relationships/notesMaster" Target="/ppt/notesMasters/notesMaster1.xml" Id="R2c76de3338a94bd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f95c9bef124c42" /><Relationship Type="http://schemas.openxmlformats.org/officeDocument/2006/relationships/notesMaster" Target="/ppt/notesMasters/notesMaster1.xml" Id="R679e8dd7cb9a464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79d8f106ed4416" /><Relationship Type="http://schemas.openxmlformats.org/officeDocument/2006/relationships/notesMaster" Target="/ppt/notesMasters/notesMaster1.xml" Id="R58942ed9a202421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a51e081b574b12" /><Relationship Type="http://schemas.openxmlformats.org/officeDocument/2006/relationships/notesMaster" Target="/ppt/notesMasters/notesMaster1.xml" Id="R6560742080d34b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b848645764f412f" /><Relationship Type="http://schemas.openxmlformats.org/officeDocument/2006/relationships/notesMaster" Target="/ppt/notesMasters/notesMaster1.xml" Id="Rbc69c7a8e9794a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1d5ad1ff2d40ca" /><Relationship Type="http://schemas.openxmlformats.org/officeDocument/2006/relationships/notesMaster" Target="/ppt/notesMasters/notesMaster1.xml" Id="Rd9ee5dbd70fc4bc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8aad7ea1eb645d8" /><Relationship Type="http://schemas.openxmlformats.org/officeDocument/2006/relationships/notesMaster" Target="/ppt/notesMasters/notesMaster1.xml" Id="Rc6b34159634b4e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</a:t>
            </a:r>
          </a:p>
          <a:p xmlns:a="http://schemas.openxmlformats.org/drawingml/2006/main">
            <a:r>
              <a:t>- docs/prd/scfs_platform_prd.md</a:t>
            </a:r>
          </a:p>
          <a:p xmlns:a="http://schemas.openxmlformats.org/drawingml/2006/main">
            <a:r>
              <a:t>- docs/spec/scfs_platform_rfc.md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docs/开发过程/topics_0714.md</a:t>
            </a:r>
          </a:p>
          <a:p xmlns:a="http://schemas.openxmlformats.org/drawingml/2006/main">
            <a:r>
              <a:t>- docs/开发过程/topics_0728.md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docs/prd/scfs_platform_prd.md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docs/prd/scfs_platform_prd.md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docs/开发过程/session_memory_0712-2.jsonl</a:t>
            </a:r>
          </a:p>
          <a:p xmlns:a="http://schemas.openxmlformats.org/drawingml/2006/main">
            <a:r>
              <a:t>- docs/开发过程/session_memory_0714.jsonl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docs/开发过程/topics_0714.md</a:t>
            </a:r>
          </a:p>
          <a:p xmlns:a="http://schemas.openxmlformats.org/drawingml/2006/main">
            <a:r>
              <a:t>- docs/prd/scfs_platform_prd.md §1.2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scfs-backend/scfs-app/src/main/resources/db/migration/V2__init_data.sql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docs/prd/scfs_platform_prd.md §业务流程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scfs-backend/scfs-common/src/main/java/com/scfs/common/enums/ApplicationStatus.java</a:t>
            </a:r>
          </a:p>
          <a:p xmlns:a="http://schemas.openxmlformats.org/drawingml/2006/main">
            <a:r>
              <a:t>- docs/开发过程/session_memory_0714.jsonl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docs/开发过程/topics_0713.md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docs/开发过程/session_memory_0722.jsonl</a:t>
            </a:r>
          </a:p>
          <a:p xmlns:a="http://schemas.openxmlformats.org/drawingml/2006/main">
            <a:r>
              <a:t>- scfs-backend/pom.xml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docs/开发过程/session_memory_0714.jsonl</a:t>
            </a:r>
          </a:p>
          <a:p xmlns:a="http://schemas.openxmlformats.org/drawingml/2006/main">
            <a:r>
              <a:t>- scfs-backend/scfs-app/src/main/resources/db/migration/V1__init_schema.sql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scfs-frontend/src/components/graph/GraphCanvas.tsx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scfs-frontend/src/components/upload/FileUpload.tsx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scfs-backend/scfs-module-preaudit/src/main/java/com/scfs/module/preaudit/service/PreAuditService.java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docs/开发过程/session_memory_0714.jsonl</a:t>
            </a:r>
          </a:p>
          <a:p xmlns:a="http://schemas.openxmlformats.org/drawingml/2006/main">
            <a:r>
              <a:t>- scfs-backend/scfs-module-verify/src/main/java/com/scfs/module/verify/service/VerifyService.java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docs/开发过程/session_memory_0713.jsonl</a:t>
            </a:r>
          </a:p>
          <a:p xmlns:a="http://schemas.openxmlformats.org/drawingml/2006/main">
            <a:r>
              <a:t>- docs/delivery/SCFS项目介绍材料.md §4.7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docs/开发过程/topics_0810.md</a:t>
            </a:r>
          </a:p>
          <a:p xmlns:a="http://schemas.openxmlformats.org/drawingml/2006/main">
            <a:r>
              <a:t>- scfs-frontend/src/pages/audit/ApplicationDetail.tsx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docs/开发过程/session_memory_0722.jsonl</a:t>
            </a:r>
          </a:p>
          <a:p xmlns:a="http://schemas.openxmlformats.org/drawingml/2006/main">
            <a:r>
              <a:t>- scfs-backend/scfs-common/src/main/java/com/scfs/common/audit/AuditLogAspect.java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docs/开发过程/session_memory_0712-1.jsonl</a:t>
            </a:r>
          </a:p>
          <a:p xmlns:a="http://schemas.openxmlformats.org/drawingml/2006/main">
            <a:r>
              <a:t>- docs/开发过程/session_memory_0728.jsonl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docs/开发过程/session_memory_0728.jsonl</a:t>
            </a:r>
          </a:p>
          <a:p xmlns:a="http://schemas.openxmlformats.org/drawingml/2006/main">
            <a:r>
              <a:t>- 本项目实际联调记录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docs/开发过程/topics_0728.md</a:t>
            </a:r>
          </a:p>
          <a:p xmlns:a="http://schemas.openxmlformats.org/drawingml/2006/main">
            <a:r>
              <a:t>- docs/unit-test-report.md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docs/开发过程/session_memory_0722.jsonl</a:t>
            </a:r>
          </a:p>
          <a:p xmlns:a="http://schemas.openxmlformats.org/drawingml/2006/main">
            <a:r>
              <a:t>- docs/delivery/SCFS项目介绍材料.md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docs/开发过程/topics_0714.md</a:t>
            </a:r>
          </a:p>
          <a:p xmlns:a="http://schemas.openxmlformats.org/drawingml/2006/main">
            <a:r>
              <a:t>- docs/delivery/SCFS项目介绍材料.md §九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项目源代码</a:t>
            </a:r>
          </a:p>
          <a:p xmlns:a="http://schemas.openxmlformats.org/drawingml/2006/main">
            <a:r>
              <a:t>- docs/开发过程</a:t>
            </a:r>
          </a:p>
          <a:p xmlns:a="http://schemas.openxmlformats.org/drawingml/2006/main">
            <a:r>
              <a:t>- docs/prd/scfs_platform_prd.md</a:t>
            </a:r>
          </a:p>
          <a:p xmlns:a="http://schemas.openxmlformats.org/drawingml/2006/main">
            <a:r>
              <a:t>- docs/spec/scfs_platform_rfc.md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bde9b5796547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2e657b6eb6408b" /><Relationship Type="http://schemas.openxmlformats.org/officeDocument/2006/relationships/slideLayout" Target="/ppt/slideLayouts/slideLayout1.xml" Id="R9b5c7d01309346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5c7d01309346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fb777adcc4541" /><Relationship Type="http://schemas.openxmlformats.org/officeDocument/2006/relationships/notesSlide" Target="/ppt/notesSlides/notesSlide1.xml" Id="R9dd364f4054e41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311f59c834f43" /><Relationship Type="http://schemas.openxmlformats.org/officeDocument/2006/relationships/notesSlide" Target="/ppt/notesSlides/notesSlide2.xml" Id="R16d78f5c9f3c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6822055a347f9" /><Relationship Type="http://schemas.openxmlformats.org/officeDocument/2006/relationships/notesSlide" Target="/ppt/notesSlides/notesSlide3.xml" Id="R8f620dbf2ea348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bc5ecb952475d" /><Relationship Type="http://schemas.openxmlformats.org/officeDocument/2006/relationships/notesSlide" Target="/ppt/notesSlides/notesSlide4.xml" Id="R038265e2014f48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5c8c549704e2b" /><Relationship Type="http://schemas.openxmlformats.org/officeDocument/2006/relationships/notesSlide" Target="/ppt/notesSlides/notesSlide5.xml" Id="R3d9b4f97bb314f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cc1fb69224020" /><Relationship Type="http://schemas.openxmlformats.org/officeDocument/2006/relationships/notesSlide" Target="/ppt/notesSlides/notesSlide6.xml" Id="R7fa309b3c5af41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800dea75342fb" /><Relationship Type="http://schemas.openxmlformats.org/officeDocument/2006/relationships/notesSlide" Target="/ppt/notesSlides/notesSlide7.xml" Id="R520021389b8147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536e1f26d4c67" /><Relationship Type="http://schemas.openxmlformats.org/officeDocument/2006/relationships/notesSlide" Target="/ppt/notesSlides/notesSlide8.xml" Id="R407ae28f9b0943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f5ac72a8541f6" /><Relationship Type="http://schemas.openxmlformats.org/officeDocument/2006/relationships/notesSlide" Target="/ppt/notesSlides/notesSlide9.xml" Id="R2922afa2c38649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287f479124c79" /><Relationship Type="http://schemas.openxmlformats.org/officeDocument/2006/relationships/notesSlide" Target="/ppt/notesSlides/notesSlide10.xml" Id="R04c819ba034746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a220cff4b4c3c" /><Relationship Type="http://schemas.openxmlformats.org/officeDocument/2006/relationships/notesSlide" Target="/ppt/notesSlides/notesSlide11.xml" Id="Rc2cfa041ccbc4c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2615823ea46e4" /><Relationship Type="http://schemas.openxmlformats.org/officeDocument/2006/relationships/notesSlide" Target="/ppt/notesSlides/notesSlide12.xml" Id="Re1afcb372a6341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0a2c66c1f496d" /><Relationship Type="http://schemas.openxmlformats.org/officeDocument/2006/relationships/notesSlide" Target="/ppt/notesSlides/notesSlide13.xml" Id="Rf2b6fa459f4843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5026f1d414379" /><Relationship Type="http://schemas.openxmlformats.org/officeDocument/2006/relationships/notesSlide" Target="/ppt/notesSlides/notesSlide14.xml" Id="R8d041c840b8145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952d029114632" /><Relationship Type="http://schemas.openxmlformats.org/officeDocument/2006/relationships/notesSlide" Target="/ppt/notesSlides/notesSlide15.xml" Id="R78f5f43e18bc4b0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ec6c29f524920" /><Relationship Type="http://schemas.openxmlformats.org/officeDocument/2006/relationships/notesSlide" Target="/ppt/notesSlides/notesSlide16.xml" Id="R5cb7dbfbbf3643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86824bc134817" /><Relationship Type="http://schemas.openxmlformats.org/officeDocument/2006/relationships/notesSlide" Target="/ppt/notesSlides/notesSlide17.xml" Id="R4e226274c77043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bbfa1240645d7" /><Relationship Type="http://schemas.openxmlformats.org/officeDocument/2006/relationships/notesSlide" Target="/ppt/notesSlides/notesSlide18.xml" Id="R705b7ce1133f46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3515d568645af" /><Relationship Type="http://schemas.openxmlformats.org/officeDocument/2006/relationships/notesSlide" Target="/ppt/notesSlides/notesSlide19.xml" Id="Rfcc35353f53c41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990ff061e4bd2" /><Relationship Type="http://schemas.openxmlformats.org/officeDocument/2006/relationships/notesSlide" Target="/ppt/notesSlides/notesSlide20.xml" Id="R09fb9800b2b043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053810744437b" /><Relationship Type="http://schemas.openxmlformats.org/officeDocument/2006/relationships/notesSlide" Target="/ppt/notesSlides/notesSlide21.xml" Id="R8d2bfc2cdedf4bd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0bd5b194f4a99" /><Relationship Type="http://schemas.openxmlformats.org/officeDocument/2006/relationships/notesSlide" Target="/ppt/notesSlides/notesSlide22.xml" Id="R344c3fd321a142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9baf62fa24937" /><Relationship Type="http://schemas.openxmlformats.org/officeDocument/2006/relationships/notesSlide" Target="/ppt/notesSlides/notesSlide23.xml" Id="Rb01cf6c203dc4d8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89af78a5a4907" /><Relationship Type="http://schemas.openxmlformats.org/officeDocument/2006/relationships/notesSlide" Target="/ppt/notesSlides/notesSlide24.xml" Id="R4c2ea0e62fe342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54770bf2498f" /><Relationship Type="http://schemas.openxmlformats.org/officeDocument/2006/relationships/image" Target="/ppt/media/image.png" Id="R2dff659cfec545d2" /><Relationship Type="http://schemas.openxmlformats.org/officeDocument/2006/relationships/notesSlide" Target="/ppt/notesSlides/notesSlide25.xml" Id="Rb7deeaa031e14d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FB456-8E7B-41E6-9150-225ADA1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5524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77155-FBB8-4AFE-82B4-24C59D4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8D293-42D5-4522-BD26-78B86DF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SCFS / DEVELOPMENT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64483-F70D-49A8-8130-6CBBA964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42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从业务需求到系统落地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23B3B-33A8-4BF7-AA46-E38AB0E7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供应链金融智能风控与尽调辅助平台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4AD0B-4D1C-4445-A4E3-2099BAF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AI Agent 协同开发 · 系统设计 · 验证交付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FC9BE-FD57-4B92-941A-A78E2755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D2954-DAEC-4E31-9BA2-5B2F05F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让关系可见，让材料可核，让风险判断有依据。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C4DB2-43B5-4824-9848-C2960C44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项目展示版 · 2026</a:t>
            </a:r>
          </a:p>
        </p:txBody>
      </p:sp>
    </p:spTree>
    <p:extLst>
      <p:ext uri="{BB962C8B-B14F-4D97-AF65-F5344CB8AC3E}">
        <p14:creationId xmlns:p14="http://schemas.microsoft.com/office/powerpoint/2010/main" val="548519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7E3ADE-C4DD-453F-8F40-444E1266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00 / 讲述主线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77BF9-4927-40A8-92CA-4EC78B2C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这不是代码清单，而是一条完整的落地链路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25BE6-B082-4AE8-8784-5A0230F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每一段设计，都会回答下一段为什么需要。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A4D2B-1614-43D1-ABC1-4AE7EE82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A68BF-4BF7-4CCF-9424-82666042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C818B-8DB0-463D-9FA6-72FB425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48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业务问题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E8AFB9-5DA0-42E6-AA3B-77A5DD29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29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为什么做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BCB0A-69E2-402A-B5E9-8FEEC3A2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86025"/>
            <a:ext cx="1428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DAE98-3C6E-449E-B7F0-FEC1C90E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02E78-32A7-463C-9A81-648F99F4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3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39278-5F8B-448B-A3F9-86F700F7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48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需求澄清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D9360-5130-4F4F-8C72-195CFFB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29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做什么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AE658-AEEA-4818-8B55-60A20054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86025"/>
            <a:ext cx="1428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13B31-1285-44E5-8E15-0AE65A34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5A918-D290-4CF7-9713-999624FE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BFE46-C232-463D-95A6-56658529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48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系统设计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C18EB-CC64-430E-BD98-7BF1083D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29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59600-91E7-495D-8BA9-EADAC6F9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6025"/>
            <a:ext cx="1428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A92336-7702-4660-A95D-DC1E1CE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C2F9B-9184-4D8E-8246-1748ACA7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1931BF-3293-412C-AA15-B44AD6D1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AI 协同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0C00F-AB4F-44EE-9BF8-4653AF6F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如何落地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BB238-6606-46A7-A7BD-DDCAFA1C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86025"/>
            <a:ext cx="1428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9F10CB-92A3-4D88-8838-F37E1EA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33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F2050-5C24-464C-A31A-02132475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3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8F5F6-E704-4654-A192-6BF956E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48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验证交付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1197D-428A-46A4-A443-B190E5BD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290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如何证明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F175D4-4EFD-4A40-AC79-2DE67621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主线：问题 → 决策 → 架构 → 实现 → 验证 → 交付。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5D876-8B25-4D96-BE6D-36552CD1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6FFB68-DD2D-4E57-8920-DC2F36D2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DFB87-7484-456F-B029-BDA30AAD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102353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1B95A-948A-4F26-824A-9E735C7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01 / 业务问题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4F8E6-D551-4005-8390-DFB0888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供应链金融的难点，是信息分散而不是信息缺少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66C10-1A0A-44EF-9378-E6189F26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41B4F-E962-432D-95B0-5F6C5F5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8290E-5925-4ABD-A4B2-B465DB45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关系看不清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95B57-9CA8-4364-AF01-0BD0A91C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上下游、核心企业和企业角色缺少全景视图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D5713-531F-4418-9BE7-DFF534A9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87B64-A121-472B-B1E8-561C14D9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0EA32-55D2-47C2-9868-470F0E53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材料对不齐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B8838-0C52-468D-BBE5-77F4C003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合同、订单、发票、物流信息彼此割裂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4B457-EDE8-4328-B967-6D31B18D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99919-ED97-4FAD-81EE-0262A458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3A83D-7629-4E39-9288-6D417B4C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风险难前置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48B28-9AE5-4D72-98B9-D40D2D6A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异常交易往往在人工审核后期才暴露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0787-65A2-4916-A0F3-C6CEE125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5BE48-EB64-4C33-AD89-FA4BECB7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037E5B-619B-459D-84B2-C1973F4F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过程难复盘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89721-3843-4E26-8452-53A8998F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操作、规则、结论和版本缺少统一留痕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6CFAB-23AE-4553-842C-C08BACC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FCEC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658B1-38BA-4310-BE96-3649204B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开发起点：先把业务判断需要的证据组织起来，再谈页面和接口。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F1DF0-0F13-49F8-9E7F-C6D77838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D597C-AC85-4A18-91DE-B485A1B6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B0BC8-B44D-498F-9DA0-6D27E27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6044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1BCB8-7155-433E-868C-42910122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02 / 项目目标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637B0-A980-4447-AA35-F5F47E71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系统把“看关系、核材料、判风险、留证据”串成一条链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A1BD3-8B8C-42D0-B7B3-B4B0C606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F1EFF-74BB-42CF-B3E9-0C5E4F23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82E28-C7EB-4C47-A8E4-680B5A2C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看关系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1D735-43FD-4BCB-AF5C-92C39E18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38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供应链图谱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147C0-5ED4-4053-8691-B30BFB47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381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59B4C-04A4-457A-B8EF-EAD6E688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C9B0E-DF13-42F0-A563-8874E0C6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核材料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6431D-0C0E-4A2B-9060-951DD5A4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2038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预审与 OCR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A0210-B766-4D05-A189-8054C06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F93F3-5D2E-4C26-9BE1-39DEEC3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5DA77-7DB8-4765-8AA3-7804EF36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判风险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078C5-0C73-4044-B5EB-7355769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76550"/>
            <a:ext cx="2038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规则与画像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0FEC8-AC0D-4801-9BB7-A1758F4A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381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6F652-1FAE-410E-9585-3CD8A9C4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FC788-A64E-4A2C-9A88-A531AB6D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47925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留证据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847EF-A1CE-42DB-B1AA-C1C0B7E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0383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报告与审计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4B595-5667-4A05-BB7D-6EAB936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A464D-ECA1-4268-B12A-1E801D23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BFFE7-101E-4AD4-843F-115A7538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381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FB9E2-F6A6-47E6-AC38-CC23B086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产品定位：银行客户经理与风控审核员的辅助决策平台，不替代核心信贷系统和人工审批。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F2F6E-26E8-4D44-B9EB-49A85C7D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43F040-AF7E-4F0C-B361-17423030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687279-97C9-4C4F-9D61-03886126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7333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60EE4-72C8-4FE3-92AB-357A6B5F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03 / 需求澄清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DEDBE-2807-4197-AA45-453D6B14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开发前先解决关键业务分歧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0095D-79A5-49B8-8ADA-23491ACC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CD04A-F19C-41DA-B8EC-BAC8CE7E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B240A-FADD-4B62-8935-EFB5EA3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669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客户经理是否发起融资申请？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EC341-E573-4754-8689-E671C148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765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AC6E2-C5C9-4F9E-9DB2-E992EE04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3CFF2-170B-4055-8590-6602C28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57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15F59-CBAE-497E-AACB-D5BF1F71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6692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客户是否直接上传材料？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1F2B8-F4B3-4458-94E0-33F0CF48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765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85CEA-516E-403C-A9C7-DB9EBB61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349DD-560B-4928-8EE7-CD5FA5E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10FC9-14CD-4010-BADC-3E3B69BE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哪些角色可以审核？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1E8B3-EC91-4AD0-81E4-0BF0AF0F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766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DC01C-36E0-4DF1-AF33-C614B8A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21B1B4-E713-4BFF-86BB-1776EFEE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57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3F606-EDC9-42F2-B198-03122C03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核验结果是否直接决定审批？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399E7-8E08-4316-A194-E749FF8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75E10-69EB-4CA6-92E6-C3045B0A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47764-E2C0-45B6-AA8C-83E63B04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2F9074-1DC6-4A08-9347-DBF0D734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终态是否允许重新打开？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9DD2F-C667-4DCD-A5CA-DDC7724C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0A403-532E-4436-B371-A60BD994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52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A955FF-8E25-4F81-BCA1-C4AAC60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57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B4BDB-E3BF-42C6-8C02-F795C94F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规则配置是否需要双人复核？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9F6BB9-3965-4C4D-B6C2-CF3C7F02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767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FCC04-D13A-4647-8FBC-D7BA853E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AI Agent 在这里的价值：把模糊需求变成可确认的问题清单。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34FA86-D444-4285-B1F2-CF908F05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47758-132E-4824-AB7E-BB14CDC3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AFEB39-1208-4627-B8D0-95FC72C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3367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68C123-CB62-408C-AEE9-1578D6F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04 / 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90A33-57A8-457C-B4A4-D1AC96D2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 负责辅助判断，不替代银行核心审批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D1FB4-7BB8-4A72-A650-28CDA8C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857750" cy="2857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20A24-8BE8-4E5F-9189-5F94D6E3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平台负责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72550-B1E4-4EFC-AF41-B5F531AA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7FF7A-9B86-47C6-B0DE-5CA3CFB0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51F65-5241-458C-A8BE-FD29E2C6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194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关系分析与图谱展示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34E1C-8F09-4AC7-9636-43BECD57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62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73496-691A-481A-B6AD-EAEF7521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9F5FE-92FF-4D80-87FE-48AD2C7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766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材料上传、OCR 与预审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84B1E-B211-430E-A5C2-0FD70971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4FA39-911D-427B-B4D8-570F1F90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C3880-437E-49EE-B755-C37A2AA2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338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真实性核验与风险画像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0FE2B-5049-433A-9858-0B13CE1A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5A3B3-46F9-47A6-8053-D29084DA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B2B95-3B07-42BA-96A1-75E1151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910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报告、审计与流程留痕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12BA9-2837-4ABC-8A88-1C3D9A54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95500"/>
            <a:ext cx="4857750" cy="2857500"/>
          </a:xfrm>
          <a:prstGeom xmlns:a="http://schemas.openxmlformats.org/drawingml/2006/main" prst="roundRect">
            <a:avLst>
              <a:gd name="adj" fmla="val 1333"/>
            </a:avLst>
          </a:prstGeom>
          <a:solidFill xmlns:a="http://schemas.openxmlformats.org/drawingml/2006/main">
            <a:srgbClr val="FAF7F8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BF330E-7917-4C17-BB83-6E3B1F24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系统边界外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821E62-5993-4EA3-89F9-FF8360BA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5719D6-731B-4EA5-9181-06AAFFEA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8ABE3-31A6-41A5-90B6-01D9999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194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放款、清算与账务处理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6E6DC-CF27-4A81-9B8A-81F21C9D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623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69097-472E-4754-BA88-95436CF3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D565A-3B94-4794-BDD3-E7375237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核心信贷系统和客户主数据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A9D042-6432-4072-825C-BEB7C243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9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45455-2D2D-4828-81ED-1DAA191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24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947147-8ABB-4F23-81E5-A54F2105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338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替代人工审批责任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B549E5-4981-4EC7-9933-33A9908D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76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E3813-96FB-4D63-AE0E-7AB333B7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81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E77A44-4B79-4D03-B028-9C856DB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91025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生产级外部数据源接入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76A3F9-0992-46C7-A8D6-CD7078DE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8FCF0-D3CB-412D-8ABA-7D29C70C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411ACB-0630-4AE7-8706-0C6E8DF6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8376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277D37-3876-484D-87EF-EC230347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05 / 角色设计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971D2-E68E-4A59-9FC2-71EA52DB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不同角色看到不同任务，权限边界从业务职责出发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4ABFD-26E7-4ACB-8DA0-D51F791C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0555C-734E-450A-9E45-62D35AC4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23E66-26C2-479E-935E-A10D1811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050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客户经理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278E9-F1C2-4F77-969F-FD46FD1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创建申请 / 上传材料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B810A-8A72-4881-A285-842F20E6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A85E1-BF2B-4221-ADC5-1C22EDAA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B2B56-4B44-4768-BB41-39DA0F4B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77E0F-B23F-4E77-B168-AD2CA3F3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风控审核员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5345E-1ECE-4341-A15A-BF858F41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核验 / 审批 / 驳回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152A3-25AD-4191-951A-0D2E49DD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33AD0B-FBCD-4435-90C9-BBD4C19A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3984C-CDB8-4614-BFF2-B0CDDA95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B9FDE8-386A-4D4B-8412-146DBEF7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规则经办岗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DFA07-30E1-45A3-A306-79776C36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909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创建 / 提交规则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5F3C3-7569-49EC-A611-91F0D4C1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5D2B2-E789-4048-B809-3CF25452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55122-91D1-4BF7-A18C-DA7DC23B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E0204-AEAE-46B9-BB45-2EA2809F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规则复核岗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E3B3C5-E7E5-4682-B657-06E12E7B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3385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审批 / 驳回规则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EF09E5-BD13-4F59-8AFC-F4CE4B69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9580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09813C-B951-40E2-BAD6-803591AD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F92251-6191-47EA-BE12-86B5A06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F0560-914D-4352-BEC8-32734122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76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审计人员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F120ED-8C5A-4253-BBE6-C11EA161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76800"/>
            <a:ext cx="428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查询 / 导出 / 追溯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23F95-8BBA-4C99-B33A-D1C4118B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38750"/>
            <a:ext cx="533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0807B7-D276-4411-A890-CFDE011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152650" cy="238125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239B69-98BE-466A-8BF5-32E76E52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RBAC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99033F-C396-4DFF-8195-EB7C866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1762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菜单权限</a:t>
            </a:r>
          </a:p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API 权限</a:t>
            </a:r>
          </a:p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按钮权限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B5ADA4-F4B3-4040-9AC8-A8905239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F0C188-8500-4C2E-9AA5-88A37236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6FE3BC-EF7B-4A67-9B67-A2B0415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71853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9D500A-9EE1-4017-8D97-16CDA1C8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06 / 业务闭环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E0ABB-8BA2-445C-BA1B-EC1B4DBB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一笔申请从创建到决策，证据在每一步沉淀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E7986-3537-4A99-B622-DCC6B164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763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061D0-A264-4B1F-8CCE-7E1FDA4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创建申请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B96B4-E3B9-4DAB-AD89-C87685E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客户经理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C6FA9-E5AF-4B85-80F7-51E4E403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670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E36DA-6FB6-400F-B441-A7CB1E41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71750"/>
            <a:ext cx="14763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21810-03DA-4E0F-BA7B-B9422D9D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14625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上传材料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D56F1-EF02-4311-8DE7-32BD35B8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0990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文件 + OCR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6299C-EECF-4D97-A2DB-0383ECF6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670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4D1F0-B613-4700-9207-779FC068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71750"/>
            <a:ext cx="14763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65254-6A91-4CB9-B86E-507ED90E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14625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材料预审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98F72-3C14-44C5-8837-ACC70064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990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完整 / 有效 / 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C75CA-8F35-4B1F-918C-97B07652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670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315998-079B-4224-B63E-484338F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14763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5C154-000C-45C0-AAB0-B226D389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真实性核验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66DC1-5A7B-4132-8C3D-012EED3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796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主体 / 金额 / 时间 / 重复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8EB1E-C42E-46B7-96FD-CAD18ACF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670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7FBC3-80A7-4D7A-8161-6852A07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4763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55200-17E5-4430-B0FE-6E90043E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14625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风险评分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51929-127F-41C3-9E13-F4DCBE3B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三维画像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04B80-E62E-4310-B7DB-2B22975C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67025"/>
            <a:ext cx="2667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4A860-705B-4C1E-AFF8-01972BC6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71750"/>
            <a:ext cx="1476375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5D85E-11B3-4D01-B9D4-AA4EDC4E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14625"/>
            <a:ext cx="1247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人工决策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94DDC-62FE-4448-A100-0A281680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09900"/>
            <a:ext cx="1247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通过 / 驳回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233527-26B5-47E4-8996-33CC1E2A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结果不是孤立分数，而是沿申请链路逐步形成的可解释结论。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00575-7BF5-4272-8E00-08AC0D64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725A8-B796-48C1-B216-2AC13F3C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851C6-242A-406B-9933-9E5B06C0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714740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EA48C5-951F-42AA-BC96-1DCDB87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07 / 状态机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41E68-A036-4D3E-8043-4908E4F2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状态流转把业务规则变成系统第一道防线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DE22E-CBA2-499B-BC84-ABBA8ACF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60ED0-2D22-4591-9238-228C47B9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5F2EA-B95D-4DDD-B472-9741B71C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草稿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DFDC5-59FF-4B60-A672-F6118786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A375B-F7DA-40F4-AD37-FA6A182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9557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1CEFB-36BE-4C5C-8DC1-9569DB7F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9764F-15C9-4960-A3F4-7D7FB961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5C293-9293-4F79-9F2D-C378A33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已提交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31418-0E0C-4396-9537-15021DD2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SUBMITTED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03A26-4AF7-4B90-B87A-523418A2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9557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335E6-0BD7-44BA-905B-043A30A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5CCA4-86E4-449F-A6B5-A6219C1F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E0D592-E850-4CBD-8569-FBF4AC1C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预审中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CE9AA-73F5-4768-BA2E-2B1AC9C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PRE_AUDITING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A7762-4265-43FF-B2D1-42058321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9557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83F8C0-4260-4B0A-BA2F-98D14ACE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43BEAC-BF03-422B-9D97-30BAC6E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90E8CE-4DEA-411E-8356-EADFF15A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核验中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55D2D-7299-40F1-B9F5-FB193C3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VERIFYING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EC1C4B-960D-4B9D-BFD6-EE2C972D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9557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20090-EFA8-4C97-8F61-0441CCEC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C1B7B-00A9-44A8-97B5-A925FE37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D5B112-A10E-499E-94D2-E906D2E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风险评分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D432C-CCBA-4C28-8020-7BDB6D76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RISK_SCORING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6EBAEC-25AC-481D-9831-D73DF999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9557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C48B8A-B31A-485B-9587-66E2F73D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B22"/>
          </a:solidFill>
          <a:ln xmlns:a="http://schemas.openxmlformats.org/drawingml/2006/main" w="9525">
            <a:solidFill>
              <a:srgbClr val="D98B2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8BF376-8E04-47E2-A594-52A8F5FF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DC2D2A-851C-472B-B990-76FA98E2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人工决策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78CA6-3881-4C40-832B-BBF4C1A8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15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PENDING_DECISION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2B13E-B2E7-41D4-8FDD-FBDF9FB3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95575"/>
            <a:ext cx="400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B329B-9FD5-4BD0-A42F-9306EDE8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76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C6A"/>
          </a:solidFill>
          <a:ln xmlns:a="http://schemas.openxmlformats.org/drawingml/2006/main" w="9525">
            <a:solidFill>
              <a:srgbClr val="2E9C6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B5255-675E-48F0-8F6C-18CDFB23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E7191C-2B87-4CBF-8AE9-D5BDEF78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终态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68454-BB4A-469B-BD60-04396970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766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004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APPROVED / REJECTED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30999C-782D-4609-BF44-7F77F55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FCECE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48E8C7-06FB-496B-B095-EE96188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异常路径：预审失败 / 核验失败 → 返回补正；每次变更写入状态历史。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31DC01-903F-484D-BBC3-2BAC4E9A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E1CCB5-7720-40A2-86A0-909AF2E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DA23E5-D840-4E46-A429-44EA2ECA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7786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FBCF0F-C43B-4491-8917-25415F3C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08 / 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86134-D8E9-4582-926B-61361DF2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前端体验、业务模块、公共能力和数据基础设施分层协同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08C0-4EAC-4A44-99BA-3566999E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19711-B1E9-46F9-9DAD-DBA22F23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E0CE5-F4A3-4CD8-B562-13EBE7C3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C1DF7-B795-49BE-955A-3FEB8931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526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前端层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CA1A8-8A5A-42CC-BB95-35D782C9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526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React / Umi / Ant Design / AntV G6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9231C-09D6-4FF5-88F8-E7FD19DF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3125B-5129-415A-A2F0-A761BC36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810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8529A-AD93-4011-A8AF-70FB30C8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A506F-0697-4BC4-ACBF-82BADFE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7C49B-984B-4EC3-B162-8BACB9AE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33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业务层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EFD643-72B9-4FBD-BF99-D05FA65C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336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Graph / Verify / PreAudit /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31780-DE2F-43D4-9061-1A9C699B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AA9B9-00D7-49BE-9EA0-631E8BC0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810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CE796-535D-451C-8314-5C580C6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B8AE5-9CB7-4D87-8279-8295B55B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F8E41D-D738-4071-9480-012C91EF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147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公共层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9A4F6-9E73-48A5-9491-AD8E2AA2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147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JWT / RBAC / Audit / File /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D07B8-26AD-4BAC-8274-5E563867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666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CBB8F-DD2F-4AEE-B238-DCDC45E5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78105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88C50-9EB2-411E-BDF1-40379884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3C960C-1CDC-4DA7-83C8-56FBFE00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A30AD-DA03-4A3C-A704-E6E7D894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95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数据层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07D47-1B83-47FE-8A76-08864432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957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PostgreSQL / Redis / MinIO / Mock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0B3D4-E45F-44D7-A849-839148A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20955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7D09C-7387-4CF3-BE11-7640B35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19375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Compose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C1603-1B4C-407C-9BD5-856D1557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242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ADD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ADDE1"/>
                </a:solidFill>
                <a:latin typeface="Arial"/>
                <a:ea typeface="Arial"/>
                <a:cs typeface="Arial"/>
              </a:rPr>
              <a:t>一键组装演示环境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9594B3-C166-4F3F-B68D-AC92C372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416180-6263-4A8E-A13A-B46A69A8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1022E-7913-4862-8455-4FEF3894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5732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74E76E-68A7-44A1-822F-943C724D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09 / 后端模块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776DE-FD96-4757-812C-60AEFB6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模块边界让业务能力可以独立演进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7F06D-3A35-48D9-8746-C62B8632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FCDEB-FB58-4B06-BF44-99C7727E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AAE50-EFB0-462C-9B7F-74E1689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76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scfs-common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66902-77F2-44AF-9D5B-299BBE26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812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安全、审计、文件、规则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3CBE6-7111-40EF-A7B5-FC3BE96E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241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48A3E-25FF-415D-B469-7274A9C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FB176-9D36-484D-B0D9-3E9F2F81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14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EEEFD-ECE9-471F-AA15-62FDD708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764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scfs-module-graph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0B45B-619C-4502-97E7-F61CCD1B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8122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企业关系与供应链图谱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C3A02-532D-4AEF-96A5-59D79A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241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C1383-185C-4F53-A4F9-0AC8FEF9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5C3A0-7AEE-461A-8088-7230C99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4020E-8B89-4A0C-B4AD-51AFC814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71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scfs-module-verify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13C5F-A61B-439A-A6FE-BAE79EB9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申请、材料、核验、报告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11412-F336-4C2B-B0D5-517BC9B2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195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F411D-5B59-4383-8B13-AD87D064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99C8E-AA49-4F6D-8AC5-16FCAB0F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09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C4D17-9AC9-470B-BF1E-AE284E47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71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scfs-module-preaudit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429EA-220B-4586-B099-5AE20C3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完整性、有效性、一致性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DF35F-1BCC-4ACB-A846-4D08B721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AF1C69-4DE2-4412-8682-B9EBBFE8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A9CCF-565B-4DD4-8434-641ABCFD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70870-09F5-4046-AB71-6CC6E20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scfs-module-risk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89B55-6198-449B-9DEA-755C6B0A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719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风险画像、评分、权重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CB647A-4319-46E9-921C-2A2F9733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148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B23E40-9758-48C8-9C4C-5CED210C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227EF2-2152-443A-A9FE-247F83CE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05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02CA95-A028-4EFE-B40B-974B2622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scfs-app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F36AB4-23C0-464C-9737-A34F364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71975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启动、配置、迁移、装配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B0F7C-FDD8-4EFE-AA8D-05E84041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148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6D0609-5436-430E-B2A4-55FD28A5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70D256-B4FD-4BF0-AD28-BD4308A4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5C354-179A-4081-9010-16B98015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738133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6340A5-59CE-4407-B95E-B183B400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10 / 数据架构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2FBE4-1A1D-46CC-B25D-1E2A5AEC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五个 Schema 对应五类业务事实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1531E-7978-4E32-95EE-98B057C5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571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AE1C3-CBF2-4AFD-BFF5-39D982DF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schema_common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C10B4-1CE0-4CA5-8F07-51409A22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859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用户 / 角色 / 权限 / 规则 / 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55AA5-FC49-4FB5-9345-D36F4270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2571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3C33C-9B1B-4832-8405-EFBC1182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schema_graph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7BD0D-6234-4349-90DB-D764E43D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90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企业 / 关系 / 角色 / 位置 / 异常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099E3-0CA8-4EA5-B657-BE11FBB0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571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5AE70-A8B4-4EC3-9AE9-6A490A76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schema_verify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9E1EED-BF36-4F8A-A005-0202D501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956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申请 / 材料 / 核验 / 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50D29-ECC7-413F-B371-C5D89F61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2571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B15DF-0D88-49FC-8336-F7BA1D3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schema_preaudit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58930-AA5A-4942-93DD-18912319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完整性 / 有效性 / 一致性 / 补正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08553-3EA4-4300-AA7B-AEC8F072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571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E98CF-83DA-49C5-9EA3-42D96044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schema_risk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B1ABC-0EE5-41CD-BF30-F7B5831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053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画像 / 评分 / 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5A4DC-AA36-46DF-AA1D-07D36EDC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数据边界清楚，查询、审计和未来拆分都有基础。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BB927-C08C-4480-B97B-2724566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30A1FC-A2A0-43DC-8120-C95D0E29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649167-64E6-433E-80E5-C884F3B0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87382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35D8D-266E-42A7-BD8E-5DC36BEF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11 / 供应链图谱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220E7-7E9B-4B59-B4E5-3031CE0F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图谱把企业关系变成风险判断的上下文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811EE-5B63-4B5C-8B51-BC25C71C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AAEED-AEA2-41A8-8DB9-3FA315E5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81375"/>
            <a:ext cx="85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核心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E3495-9EE8-4993-9E71-4981E592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7187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D9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30D7-AE97-429F-BEED-8C6A0F31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E4F94-37EA-4193-86AA-94E07B9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供应商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C4F06-3D09-4DD4-8542-A2BC343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71875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D9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C0FDB-A6B6-405B-BF9A-F786FFE3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E23E8-64DB-4855-8BA0-E3166203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76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供应商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FE834-C5C2-419F-9D4D-B922F112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4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4606C-21FC-4FFF-A48E-E9BEF801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9F7D4-F064-4A6F-B32B-0B48CBC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采购方 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004C8-779E-4B09-A19D-F6ED05CB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261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8B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95AC5-65C7-4124-92DE-E34DA981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B22"/>
          </a:solidFill>
          <a:ln xmlns:a="http://schemas.openxmlformats.org/drawingml/2006/main" w="9525">
            <a:solidFill>
              <a:srgbClr val="D98B2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2E52F5-0523-42D7-9D48-CE2F870D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76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关联企业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63F703-DF83-4E04-A18B-4B948B71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角色识别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0A8A9-2C4A-4F74-8985-1F70BE12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2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位置分析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4F2A5-D6AE-44CA-86C7-5828F1B1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8B2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8B22"/>
                </a:solidFill>
                <a:latin typeface="Arial"/>
                <a:ea typeface="Arial"/>
                <a:cs typeface="Arial"/>
              </a:rPr>
              <a:t>异常关系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BDB5A-3127-43A9-94C0-8EC8D487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9E5F16-799C-44CA-B759-2023B58D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3F893-912F-444D-8729-5721F9C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858368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0E2DC-68B9-4E75-B411-C9B1F969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12 / 材料处理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4B394-B264-4FEF-A3B9-699845AE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文件只是输入，结构化字段才是可核验的证据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DBDE7-81D3-43A9-BAEF-1697E9AF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809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415C-7A55-4616-BF89-13A45F55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文件上传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5E6E6-BFBE-4987-B933-BFFF518A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白名单校验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D3A71-321C-4647-A5C6-24B8BD22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7717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DAB3C-2680-499D-B12D-099DE4C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1809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54CBF-6E5D-457A-A691-7B0A3471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193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对象存储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A794C-E52A-407C-B791-5F53B6DB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14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MinIO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A2034-CD7D-4CDF-871E-8F7D27C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717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25495-24ED-4CBB-8573-36AB2262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1809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577F7-A266-427B-AB63-8125012C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193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OCR 识别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BBAC3-72D6-49F8-9A96-28B79721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字段 + 置信度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50918-DFFD-45D6-BA05-8C3BE284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717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DB7FB-9701-45CB-8FC8-39D19BFF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1809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8CD8F-B60C-4E95-9EB5-DBE41D31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193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人工修正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5F16B-9B6A-4C2C-BA04-D3972A03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14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低置信度介入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20028-DAAE-4F87-8C9D-97247446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3048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B5D57-C8C3-47E2-9A33-9981EB3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76500"/>
            <a:ext cx="180975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45C44-BDDA-486B-839B-8CD02FC5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1937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核验输入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1C565-B9BC-4D0B-9B68-968DBD7C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规则引擎消费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EF380C-EA71-478E-8E15-0A48ED7C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FCEC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5AED9-29F8-44BB-B911-990C232F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支持合同、订单、发票、验收单、物流材料等供应链融资证据。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5B97C-8E3D-4F36-BC1C-A33EC81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FE445-C163-44AA-A56B-52C31985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F89A8C-F531-4524-A761-92AD21D0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434897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DCEB69-A33D-4CF9-BC9C-22D688DD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13 / 材料预审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22024-37CC-4708-B142-8ADCB7EA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把显而易见的问题前置，把人工精力留给存疑判断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75B95-EB5A-4359-A3A0-1DA2E864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2C5E9-3CCD-457A-82E0-229EC00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6E496-4CC2-426E-8A46-27720117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完整性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50616-FF91-4521-802C-6280F19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缺少哪些材料？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528C9-C55D-40AE-8505-942F5435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02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8286D-B666-4EBA-90F3-F5E0209F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0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AD582-8F7D-4614-A520-BD8CE4E0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有效性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3A7DC-6CCC-4A3B-AB70-0B706A9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文件是否过期？字段是否缺失？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BB002-B007-4C23-B3DB-7434AA50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E1724-9567-414A-821D-242EE5A5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337B2-9C5D-44B6-BDC8-2E00EB8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一致性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8C052-BFF8-4B45-9DCD-A0514EA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名称、USCC、法人、地址是否一致？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F2587-1D30-4F94-AECC-8F03349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A16C4-BFBC-4E37-A09A-B134CE0F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43E76-0F64-48E9-B624-7A4DE18B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补正清单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08685-9B5A-4773-923F-96F9DFC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客户经理下一步做什么？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6ED59B-3011-480E-A08C-7226B27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67509-4C47-4401-B92A-7A300BEA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3925FB-6A57-4E33-8A11-3BEC660D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21389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94997-21FD-447A-9C30-B7A71272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14 / 真实性核验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B778B-25C6-4AB6-9BBC-6FC4BF74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四类核验把业务经验变成可解释的判断逻辑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7D60D-F55B-4D30-9F38-C3028C3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D15F4-4C44-4BBF-8C13-4452A107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09BCA-EF03-4DD7-98A6-A97910E2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主体一致性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E03B4-FC6C-415A-B73F-230FD75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286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买卖双方信息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8D952-1E31-4284-8350-962E9752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5CDEE-1B9E-40E3-88CA-49007A92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17720-E231-45F0-95B5-CB6EBF00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金额一致性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BF2C0-DB40-4C3A-A18C-CE181885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286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合同 / 订单 / 发票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EA1F0-2FC8-414B-8DBB-E941F790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97725-514D-4525-882D-BC7CFBAD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F6B4E-07F6-4DA1-B80F-7BE3ACB3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时间逻辑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FE8B6-5481-4EFF-8397-1D83EC2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86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材料时间顺序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03044F-9CE5-49A4-B9C2-6D029DE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90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BB51C-A1CD-486B-B398-479FD34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95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3DFA7-DE1B-4C22-A8C0-8A36835A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57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重复融资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80C29-DF02-49DE-81EE-BE7DF601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861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历史融资记录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F61EF6-6A96-4626-8866-D88CF83E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2C314-D486-40BF-B38D-733AB3FD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规则结果不是终点，而是审核员人工决策的依据。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B26FB-9DD4-486E-AE21-1C22091F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2EA90-A26F-4F15-A7BF-5F53C355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AF5C3-0C49-499F-B567-CA31CD1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274944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C0276-9D18-49E3-8719-0FB68619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15 / 风险画像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661C2-EB59-4912-91B4-FCEEB9D8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三维评分把多个结果汇总成可解释结论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B1B03-55B2-4B93-8DE7-4D463C84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9D7CA-22EB-4415-B39B-8975B8B6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907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56BB5-DD33-431B-837A-A943D73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供应链评分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CCCDB-8156-4AF8-A8C0-0F8783A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10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2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756BA-0E83-4BE7-9CD0-A760FE6F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95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BC40E-484D-4C7B-B0E0-7BE7EBB3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907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2D66D-DE2C-4595-9973-03D77C3B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交易稳定性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E85F3A-7CE6-4FB4-BCB6-211DA5EB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E17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D5E42-1A3A-48EF-AEF2-B7278ACB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8B22"/>
          </a:solidFill>
          <a:ln xmlns:a="http://schemas.openxmlformats.org/drawingml/2006/main" w="9525">
            <a:solidFill>
              <a:srgbClr val="D98B2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09CB4-8229-40BE-9B65-3AD65330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0C375-6489-4EF0-A404-A1ACB412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材料质量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E606F4-871D-4743-A123-2B1EB99D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1000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8B2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986F3-1FAF-4208-BD7D-AD47A3A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输出：综合得分、风险等级、风险原因、操作建议。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F6E07-9C9A-41A6-A8B0-E9B555A2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27D12B-7676-4097-955D-B1805BBD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5DF13-193C-4B5B-AD89-94D46C2A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5590631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63662-D2D6-48AC-8D67-F4750E73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16 / 审核落点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3CC97-71D2-4B75-9352-C69B46B2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客户经理提交后，风控审核员在申请详情中完成决策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7FFB4-AFF9-4DB5-936A-7F33204F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2860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57CDD-B8A2-4711-A01F-B5B8CDAA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审核中心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CCACC-B90C-44F5-B451-38C562B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22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融资申请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C268D-42BB-452D-8FAD-8B150B2C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194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3084A-21CD-4188-80A6-9994786C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24125"/>
            <a:ext cx="22860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94C21-48D2-4E1D-8698-5B759651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67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申请列表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9E04F-6F8C-4AD4-AB77-4425AAEC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622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已提交 / 待决策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2C8A9-3513-4042-B025-DFEC4222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194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9F4B1-86AB-421B-B740-3799A8D2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22860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E5342-C417-40AE-9EE1-C80E73CE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申请详情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D623C-163B-473F-AA4D-43E98BC4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622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材料 / 预审 / 报告 / 画像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DB0C4-F6E4-4085-8DBD-995D8F7C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1940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1F660-B889-4977-8DFF-486850FC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286000" cy="7429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2B70F5-72DD-4E4B-82CB-DCCEB870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人工决策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4F928-747A-4101-9487-68764C9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62275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审批通过 / 驳回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4EFF8C-72BD-4780-8263-C4DB7234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FCEC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CB2F2-0080-4F50-B412-7526193E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系统负责组织证据，审核员负责做出最终业务判断。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FC181-3856-4230-B3CE-FA4BEF7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9B6703-0BCD-40FC-ABF8-DD40691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8EB11-B154-4F62-AB20-8A11169B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108589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F55BB-2E2B-421D-A229-3F93A735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17 / 安全与审计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FA7C8-B844-48FE-9FDC-75EE0CC2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所有关键结论都要能回答：谁、何时、基于什么、做了什么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0DA70-CC72-40BF-AFFF-7DB90F27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2B278-F9A0-4A4A-92A1-2A3D1287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D188A-1BEB-432F-986F-31320FE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A7867-E785-4905-AF6C-1DC641B0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05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JWT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3DF19-80C1-4375-8B17-626F6EF2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611A8-6D4A-4DB1-AEC7-8C7B5D6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00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259B1-5C20-4546-AC3B-486C63AF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权限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8D04E-D250-4249-AFFF-7D9BF453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05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RBAC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DD054-4D68-4E0C-A0AF-CD6304DE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09EF06-B402-4115-9488-9AE12BD9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0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CCD2C-0B3B-4A04-8B5C-4EEB02BE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1F264-F765-456F-A2F6-10D42AD9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050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白名单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47E9A-5A52-481E-902F-CE1996B9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772BB-A732-4368-8EF5-C9979802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47999-E8F4-4686-A9B9-B5FA67A8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9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74E11-2592-4794-9D1E-3DC4B68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33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双岗复核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DC2EC-F22E-4CD0-8539-32030304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24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48F58-FBF3-4F47-9D9D-FF2A03D3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29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8B67A-22E1-4A12-8101-6111B2D9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9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CB69B-27B4-4471-9DB4-A214872C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33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报告快照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FE735-4042-4317-B02C-BB29D18E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AED278-B3B8-4215-8E68-A7498C2C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29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3155E9-5646-48C2-9776-D572CF35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9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过程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A33E7-C498-4DD5-9424-EAD363B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33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操作日志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D37B8F-89DD-4EDF-BFE0-555062D5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EF9B19-7106-4B1F-BCD5-83F8664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CABB83-A287-49D0-98B4-B046356C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946568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29C2F1-51FF-4C50-B06E-2DDE63C0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18 / AI AGENT 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3EA5E-ABF3-4D6F-8A97-816C8991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AI 参与的是系统落地闭环，不只是写代码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DCA0-A9F3-4520-83FD-06240EDC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38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00692-55EF-45FF-A185-5BAEC610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1F042-29F2-44B9-BF6E-12390F30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需求理解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65D93-F039-454E-BC25-3D096A0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读取 PRD / RFC / 代码结构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74C80-70A2-4C33-B86B-A9934320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4955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C1C36-FF07-4497-B614-EC576F51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38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D400C-745E-4606-8E5C-91B8A44A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5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975F0-2F54-404F-9F19-32B69183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90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系统设计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7FB95-8241-444B-877A-A5D82EF7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模块、数据、接口、权限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11332-E4CF-420F-BBEA-4344BC74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955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9B57F-26B1-4588-B51C-8BA28EF0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38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34B88-6FA0-494C-99C9-867D0C0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B476A-EB77-476C-A19C-DACE4156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90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实现联调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264B1-89D8-4980-A677-F60E467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1950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前端、后端、Docker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DFA1EF-A8E8-4892-B443-3A3E49C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955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66BAE-48F6-429A-B986-DCAC327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38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42173-944D-4D00-BC9C-53FC9C5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26CF1-F18E-4996-8111-5F918365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90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反馈定位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F6EBA-A840-4DF7-AA72-8E8E935D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截图、Network、日志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DBF9B7-336F-496C-A2A5-33D9CAE8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95550"/>
            <a:ext cx="2857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8000A-B25C-417E-8A56-36922C45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2383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3917E-5188-48BC-BAE9-41D2E0BB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574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304DE-1A3B-491B-9C58-BB4071A7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90875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验证交付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70FC80-CA4E-46F7-9013-9D16FAC9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19500"/>
            <a:ext cx="1857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测试、文档、PPT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636F8C-844A-4C79-9E00-FC2EEDB7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4BCB0C-D4C9-4EA3-B02A-FDC7DA5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小巧思：把现象变成假设，把假设变成验证，把修复结果沉淀为交付材料。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72D6E-2954-4668-9923-AA22B198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93404-0806-4437-AB0A-FD299DF0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BD8B81-2CF9-4859-9227-01A15BD8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5815289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C22E2-67B9-4592-BAF4-017319E9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19 / 典型 DEBUG 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68125-66B6-4078-B089-325B97DE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一次“未知错误”，被拆成可验证的工程问题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BB929-638F-4A55-A080-3404D33E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FE391-5AAA-4A28-B46E-6E9A9E97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0BD65-5126-4F84-901A-C0CA825E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85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浏览器 Network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9B9A0-2E01-4A5B-AA5F-B09D68F9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确认实际请求路径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C0A05-DDCD-46E9-8318-0C7FF191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952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5EE83-1452-4F92-8A89-44D0909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0609C-1B3F-47DE-9B81-14E97195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0DDF2-E8C8-4D68-B2A8-1162DF96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0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后端日志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1DB65-6F9F-4B5E-9695-906E5DC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03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定位 500 根因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A4AF8-C6D0-4069-BC45-E5F7958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95575"/>
            <a:ext cx="952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3C94F-E583-4ACB-B31D-AC2CD828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FD1A9-76C0-494D-ABD4-540AEA3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E8E82-C7B5-4AE4-9F23-0F47C52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14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代码修复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22093-9E3C-4DFB-91B7-6BE0237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时间类型序列化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B0E82-3ECC-4CF0-89BD-7E7EB6E1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952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264B5C-5136-416C-8720-EE363B13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5BA88-2E1F-4ABE-967D-1120F5C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DE2EB-880C-4AB9-9814-242D278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29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接口补齐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14900-4FD1-4178-83ED-1A739A5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PDF 导出 Controller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A90ED-64FD-42FD-9845-52A345D9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24325"/>
            <a:ext cx="9525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4D9DC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1D8BC-618D-4FF2-947D-05CCE32F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9F289-EF5D-41E3-B8C8-85BA56A6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97904-B0DA-4B88-BDDD-143BBDB3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43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内容优化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876393-87E0-4AA0-ABD8-0F140F2A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中文业务报告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6BA2F-F768-446A-A056-552AF54E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18AF1-F465-4189-B34F-F9AA0BE4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B7DA48-F0D7-4E74-A8BD-6ABBC067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1104032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69473-BDA0-4A69-ADBB-42B79478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20 / 测试与验证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2D470-7773-4D48-B100-F1FDEFA2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开发结果通过构建、测试和运行三层验证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3AFA6-90C5-430E-9F15-3096471F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316775-9373-4607-B545-1EB8361E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F733E-B337-4D78-9F0A-D02D6846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单元测试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BD434-8C37-44BA-AB4B-F92F9AD2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4419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后端 20 个 / 前端 40 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07D51-4917-4178-9C46-99DEFC05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5D1E4-3A33-4610-8167-3044EC6F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809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279A6E-65BF-496C-BFD1-F9989EC7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669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编译构建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1A357-5D9E-4EB2-9A95-119D1DEC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4419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后端 7 个 Maven 模块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76B9D-34C6-48FF-BACF-8E5A4618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E84A9-A7E4-4145-9B03-5B53AB3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68FD7-07CA-44DA-A6CB-EF47C86E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前端产物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1C7A5-03DF-4269-A1D0-9C506A1C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419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Umi 构建 dist 与资源包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39F0F-CE43-4E3D-8D7A-145408DC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FC023-E722-4285-9902-517D5B41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0B328-7905-43F6-852B-CD685CF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99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运行验证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5E877D-FF42-47C9-9C71-431DD499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38550"/>
            <a:ext cx="4419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Docker Compose 联调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C9554-44B4-4A7F-8B91-2176C7BB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0B272-7739-44F0-894E-991CCA25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2E3F6-0A2A-4833-8057-979BF931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问题闭环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CB815-08F6-45E2-9E20-3206F3BA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419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20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接口、权限、报告、PDF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FAB1A-62AD-4B3D-8B40-E94E899E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28710-8CED-400D-A3E5-A235CA87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9F264-1B7F-442C-BEF9-B15DA451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1816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D69D08-0758-4B8B-89FB-4A0CE216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21 / 当前交付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8234B-D0B6-4145-BF3A-AEF6D792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系统已经形成一套可运行的风控辅助闭环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92C86-87CB-4BAA-8038-2FEB54A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2D281-25AB-413C-A9A5-BB644008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B6B1D-E4DC-4FE3-B4D9-40D39CF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供应链图谱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79B3A-A49D-43E4-A4D2-283C0EFD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9B5EC-355E-47FB-8306-93267A2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F0D5D-0A5C-43C5-888E-E5D897BE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62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融资申请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B29DD-DB0D-4B17-BB27-6FBBBA99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57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5DA1E-6B0E-4EDE-B76D-8FDDCBE2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62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28661-113C-4F7A-A092-8D89E8C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62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材料预审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DF32F-0668-41D1-9D86-D40F5192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94E74-AC14-4DB1-8856-080E52F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84BBC2-FB13-4001-8E33-DB3F97C8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622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真实性核验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5A372-F252-4D06-A451-F7A571A9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C3E1B8-69D0-4D64-B201-CE6B05BE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62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A8B6D-71F1-40CC-B489-09945984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622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核验报告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CFAD91-F33F-44B5-A97F-8B2FF692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DBE09-EEA7-47A1-85C8-D3883857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C4A40-E4EB-4475-AB02-3AFEDCF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622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风险画像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70A435-3FD0-4EF2-84CA-AC42890E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2A889-24B1-49E0-AB9D-EFB91DC7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93DB9-B810-49AE-B4A3-0A8B1DCF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RBAC 权限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58D52-5B55-4EC1-9EA0-75A7F1B8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B4C927-C82F-4E53-81D3-0390EDD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62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11AFC-8005-4064-B648-2D1573D0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62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审计日志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F2BEDC-77E8-4B1C-80EB-4BD7850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396A77-84E8-488F-A9AA-22FE418D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32B1D-AACD-48F2-B471-8DE2E7A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624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Docker 部署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5C88D-A6D3-44FF-A5A7-699EA32A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CECEE"/>
          </a:solidFill>
          <a:ln xmlns:a="http://schemas.openxmlformats.org/drawingml/2006/main" w="9525">
            <a:solidFill>
              <a:srgbClr val="FCEC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2E236A-92BF-4090-90BC-D3A8BC6E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172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1724"/>
                </a:solidFill>
                <a:latin typeface="Arial"/>
                <a:ea typeface="Arial"/>
                <a:cs typeface="Arial"/>
              </a:rPr>
              <a:t>交付价值：业务设计、技术实现、AI 协同和验证材料形成同一条证据链。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7CE675-7C8C-4794-920D-7CE59676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C7E040-95EB-41F7-9893-E2053FED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F2D155-F941-4F6C-A88C-9E1F536B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88703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8DA0E-8032-42AF-BA7B-42DACD8F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28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92835"/>
                </a:solidFill>
                <a:latin typeface="Arial"/>
                <a:ea typeface="Arial"/>
                <a:cs typeface="Arial"/>
              </a:rPr>
              <a:t>22 / 后续演进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4014F-8506-4A06-8980-D0F555BA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从可运行演示走向真实业务环境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9F3E5-BEA4-40DA-AA5C-C78E16AD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6FDBA-82C6-467A-B2FE-7C5701C8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83D87-C2F9-4B72-9EDF-ABDBAB5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数据源真实化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AC7AC-D323-4E70-B24A-398CC1DE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工商、征信、物流、核心系统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EDE71-77CD-474A-A28B-D9450947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025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867E-054B-4D11-A287-F7EAE872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0025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87DAE-2ACB-41C7-89C7-A9224917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智能化增强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2DC79-9016-4B50-AE68-6674A237E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OCR 置信度、异常模型、图谱推理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0EF02-54CB-4367-A766-B4101301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3775D-38B5-411F-AA81-3EC0DB7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2835"/>
          </a:solidFill>
          <a:ln xmlns:a="http://schemas.openxmlformats.org/drawingml/2006/main" w="9525">
            <a:solidFill>
              <a:srgbClr val="C928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52257-0040-433F-BECA-27D7DAB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工程化增强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93EE6-ADB0-4B11-AC8E-D4147BCD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消息队列、监控、备份、灾备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45AC-EB3F-4228-8B75-9DD0FDBD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762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274D7-D6CC-4A9A-94BC-EAF00A7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4762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724"/>
          </a:solidFill>
          <a:ln xmlns:a="http://schemas.openxmlformats.org/drawingml/2006/main" w="9525">
            <a:solidFill>
              <a:srgbClr val="8E17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693C1-BC0D-4231-8093-EBA68FC4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76675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业务闭环增强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342A5-906D-4E8F-91EF-ED2D08E3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待办、补正通知、企业端上传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D2C58-2D11-40B9-AD9B-E20A512F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D9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77C7D-6036-4E28-B68F-9BC1FC5A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SCFS · 开发过程与系统设计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863300-7CA2-4C3C-B1A5-0617ED9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7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1846906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8E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ff659cfec545d2"/>
          <a:stretch xmlns:a="http://schemas.openxmlformats.org/drawingml/2006/main"/>
        </p:blipFill>
        <p:spPr>
          <a:xfrm xmlns:a="http://schemas.openxmlformats.org/drawingml/2006/main">
            <a:off x="609600" y="45720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AAB5-85BB-413F-9502-566AC5F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96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ADDE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ADDE1"/>
                </a:solidFill>
                <a:latin typeface="Arial"/>
                <a:ea typeface="Arial"/>
                <a:cs typeface="Arial"/>
              </a:rPr>
              <a:t>SCFS / 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B2DEF-FAFF-4EFB-AA87-195AC593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让判断更可靠，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让过程可追溯。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6F163-82C4-4DC1-8DF0-2EF3BA11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ADD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ADDE1"/>
                </a:solidFill>
                <a:latin typeface="Arial"/>
                <a:ea typeface="Arial"/>
                <a:cs typeface="Arial"/>
              </a:rPr>
              <a:t>让供应链关系看得见，让材料核得清，让风险判断有依据。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32DF3-9D31-485A-BDAD-A8D05D4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85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3A5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B9AD6-4CA0-4F48-BA7D-1900652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16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0EE88-CD02-438A-B134-9B5A6FB8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SCFS · 供应链金融智能风控与尽调辅助平台</a:t>
            </a:r>
          </a:p>
        </p:txBody>
      </p:sp>
    </p:spTree>
    <p:extLst>
      <p:ext uri="{BB962C8B-B14F-4D97-AF65-F5344CB8AC3E}">
        <p14:creationId xmlns:p14="http://schemas.microsoft.com/office/powerpoint/2010/main" val="15564130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2026-08-12T12:44:42.6840000Z</dcterms:created>
  <dcterms:modified xsi:type="dcterms:W3CDTF">2026-08-12T12:44:42.6840000Z</dcterms:modified>
</coreProperties>
</file>